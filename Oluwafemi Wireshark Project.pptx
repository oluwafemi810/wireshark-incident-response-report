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9" r:id="rId4"/>
    <p:sldId id="260" r:id="rId5"/>
    <p:sldId id="265" r:id="rId6"/>
    <p:sldId id="263"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31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5" autoAdjust="0"/>
    <p:restoredTop sz="94660"/>
  </p:normalViewPr>
  <p:slideViewPr>
    <p:cSldViewPr snapToGrid="0">
      <p:cViewPr varScale="1">
        <p:scale>
          <a:sx n="81" d="100"/>
          <a:sy n="81"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813B32-161E-4594-A624-A172FBDE08D7}" type="datetimeFigureOut">
              <a:rPr lang="en-NG" smtClean="0"/>
              <a:t>12/03/2026</a:t>
            </a:fld>
            <a:endParaRPr lang="en-NG"/>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NG"/>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71AFB3D2-FE9B-4A7F-A42F-F5FD11A4DF1E}" type="slidenum">
              <a:rPr lang="en-NG" smtClean="0"/>
              <a:t>‹#›</a:t>
            </a:fld>
            <a:endParaRPr lang="en-NG"/>
          </a:p>
        </p:txBody>
      </p:sp>
    </p:spTree>
    <p:extLst>
      <p:ext uri="{BB962C8B-B14F-4D97-AF65-F5344CB8AC3E}">
        <p14:creationId xmlns:p14="http://schemas.microsoft.com/office/powerpoint/2010/main" val="256215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813B32-161E-4594-A624-A172FBDE08D7}" type="datetimeFigureOut">
              <a:rPr lang="en-NG" smtClean="0"/>
              <a:t>12/03/2026</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a:xfrm>
            <a:off x="10558300" y="5956137"/>
            <a:ext cx="1052508" cy="365125"/>
          </a:xfrm>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3930071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813B32-161E-4594-A624-A172FBDE08D7}" type="datetimeFigureOut">
              <a:rPr lang="en-NG" smtClean="0"/>
              <a:t>12/03/2026</a:t>
            </a:fld>
            <a:endParaRPr lang="en-NG"/>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NG"/>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1AFB3D2-FE9B-4A7F-A42F-F5FD11A4DF1E}" type="slidenum">
              <a:rPr lang="en-NG" smtClean="0"/>
              <a:t>‹#›</a:t>
            </a:fld>
            <a:endParaRPr lang="en-NG"/>
          </a:p>
        </p:txBody>
      </p:sp>
    </p:spTree>
    <p:extLst>
      <p:ext uri="{BB962C8B-B14F-4D97-AF65-F5344CB8AC3E}">
        <p14:creationId xmlns:p14="http://schemas.microsoft.com/office/powerpoint/2010/main" val="1310453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813B32-161E-4594-A624-A172FBDE08D7}" type="datetimeFigureOut">
              <a:rPr lang="en-NG" smtClean="0"/>
              <a:t>12/03/2026</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3662257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813B32-161E-4594-A624-A172FBDE08D7}" type="datetimeFigureOut">
              <a:rPr lang="en-NG" smtClean="0"/>
              <a:t>12/03/2026</a:t>
            </a:fld>
            <a:endParaRPr lang="en-NG"/>
          </a:p>
        </p:txBody>
      </p:sp>
      <p:sp>
        <p:nvSpPr>
          <p:cNvPr id="8" name="Footer Placeholder 7"/>
          <p:cNvSpPr>
            <a:spLocks noGrp="1"/>
          </p:cNvSpPr>
          <p:nvPr>
            <p:ph type="ftr" sz="quarter" idx="11"/>
          </p:nvPr>
        </p:nvSpPr>
        <p:spPr/>
        <p:txBody>
          <a:bodyPr/>
          <a:lstStyle/>
          <a:p>
            <a:endParaRPr lang="en-NG"/>
          </a:p>
        </p:txBody>
      </p:sp>
      <p:sp>
        <p:nvSpPr>
          <p:cNvPr id="9" name="Slide Number Placeholder 8"/>
          <p:cNvSpPr>
            <a:spLocks noGrp="1"/>
          </p:cNvSpPr>
          <p:nvPr>
            <p:ph type="sldNum" sz="quarter" idx="12"/>
          </p:nvPr>
        </p:nvSpPr>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1801493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813B32-161E-4594-A624-A172FBDE08D7}" type="datetimeFigureOut">
              <a:rPr lang="en-NG" smtClean="0"/>
              <a:t>12/03/2026</a:t>
            </a:fld>
            <a:endParaRPr lang="en-NG"/>
          </a:p>
        </p:txBody>
      </p:sp>
      <p:sp>
        <p:nvSpPr>
          <p:cNvPr id="4" name="Footer Placeholder 3"/>
          <p:cNvSpPr>
            <a:spLocks noGrp="1"/>
          </p:cNvSpPr>
          <p:nvPr>
            <p:ph type="ftr" sz="quarter" idx="11"/>
          </p:nvPr>
        </p:nvSpPr>
        <p:spPr/>
        <p:txBody>
          <a:bodyPr/>
          <a:lstStyle/>
          <a:p>
            <a:endParaRPr lang="en-NG"/>
          </a:p>
        </p:txBody>
      </p:sp>
      <p:sp>
        <p:nvSpPr>
          <p:cNvPr id="5" name="Slide Number Placeholder 4"/>
          <p:cNvSpPr>
            <a:spLocks noGrp="1"/>
          </p:cNvSpPr>
          <p:nvPr>
            <p:ph type="sldNum" sz="quarter" idx="12"/>
          </p:nvPr>
        </p:nvSpPr>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1985564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813B32-161E-4594-A624-A172FBDE08D7}" type="datetimeFigureOut">
              <a:rPr lang="en-NG" smtClean="0"/>
              <a:t>12/03/2026</a:t>
            </a:fld>
            <a:endParaRPr lang="en-NG"/>
          </a:p>
        </p:txBody>
      </p:sp>
      <p:sp>
        <p:nvSpPr>
          <p:cNvPr id="3" name="Footer Placeholder 2"/>
          <p:cNvSpPr>
            <a:spLocks noGrp="1"/>
          </p:cNvSpPr>
          <p:nvPr>
            <p:ph type="ftr" sz="quarter" idx="11"/>
          </p:nvPr>
        </p:nvSpPr>
        <p:spPr/>
        <p:txBody>
          <a:bodyPr/>
          <a:lstStyle/>
          <a:p>
            <a:endParaRPr lang="en-NG"/>
          </a:p>
        </p:txBody>
      </p:sp>
      <p:sp>
        <p:nvSpPr>
          <p:cNvPr id="4" name="Slide Number Placeholder 3"/>
          <p:cNvSpPr>
            <a:spLocks noGrp="1"/>
          </p:cNvSpPr>
          <p:nvPr>
            <p:ph type="sldNum" sz="quarter" idx="12"/>
          </p:nvPr>
        </p:nvSpPr>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3038586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813B32-161E-4594-A624-A172FBDE08D7}" type="datetimeFigureOut">
              <a:rPr lang="en-NG" smtClean="0"/>
              <a:t>12/03/2026</a:t>
            </a:fld>
            <a:endParaRPr lang="en-NG"/>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NG"/>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1AFB3D2-FE9B-4A7F-A42F-F5FD11A4DF1E}" type="slidenum">
              <a:rPr lang="en-NG" smtClean="0"/>
              <a:t>‹#›</a:t>
            </a:fld>
            <a:endParaRPr lang="en-NG"/>
          </a:p>
        </p:txBody>
      </p:sp>
    </p:spTree>
    <p:extLst>
      <p:ext uri="{BB962C8B-B14F-4D97-AF65-F5344CB8AC3E}">
        <p14:creationId xmlns:p14="http://schemas.microsoft.com/office/powerpoint/2010/main" val="3897691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813B32-161E-4594-A624-A172FBDE08D7}" type="datetimeFigureOut">
              <a:rPr lang="en-NG" smtClean="0"/>
              <a:t>12/03/2026</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3354375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813B32-161E-4594-A624-A172FBDE08D7}" type="datetimeFigureOut">
              <a:rPr lang="en-NG" smtClean="0"/>
              <a:t>12/03/2026</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71AFB3D2-FE9B-4A7F-A42F-F5FD11A4DF1E}" type="slidenum">
              <a:rPr lang="en-NG" smtClean="0"/>
              <a:t>‹#›</a:t>
            </a:fld>
            <a:endParaRPr lang="en-NG"/>
          </a:p>
        </p:txBody>
      </p:sp>
    </p:spTree>
    <p:extLst>
      <p:ext uri="{BB962C8B-B14F-4D97-AF65-F5344CB8AC3E}">
        <p14:creationId xmlns:p14="http://schemas.microsoft.com/office/powerpoint/2010/main" val="2379648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813B32-161E-4594-A624-A172FBDE08D7}" type="datetimeFigureOut">
              <a:rPr lang="en-NG" smtClean="0"/>
              <a:t>12/03/2026</a:t>
            </a:fld>
            <a:endParaRPr lang="en-NG"/>
          </a:p>
        </p:txBody>
      </p:sp>
      <p:sp>
        <p:nvSpPr>
          <p:cNvPr id="5" name="Footer Placeholder 4"/>
          <p:cNvSpPr>
            <a:spLocks noGrp="1"/>
          </p:cNvSpPr>
          <p:nvPr>
            <p:ph type="ftr" sz="quarter" idx="11"/>
          </p:nvPr>
        </p:nvSpPr>
        <p:spPr>
          <a:xfrm>
            <a:off x="774923" y="5951811"/>
            <a:ext cx="7896279" cy="365125"/>
          </a:xfrm>
        </p:spPr>
        <p:txBody>
          <a:bodyPr/>
          <a:lstStyle/>
          <a:p>
            <a:endParaRPr lang="en-NG"/>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71AFB3D2-FE9B-4A7F-A42F-F5FD11A4DF1E}" type="slidenum">
              <a:rPr lang="en-NG" smtClean="0"/>
              <a:t>‹#›</a:t>
            </a:fld>
            <a:endParaRPr lang="en-NG"/>
          </a:p>
        </p:txBody>
      </p:sp>
    </p:spTree>
    <p:extLst>
      <p:ext uri="{BB962C8B-B14F-4D97-AF65-F5344CB8AC3E}">
        <p14:creationId xmlns:p14="http://schemas.microsoft.com/office/powerpoint/2010/main" val="4772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813B32-161E-4594-A624-A172FBDE08D7}" type="datetimeFigureOut">
              <a:rPr lang="en-NG" smtClean="0"/>
              <a:t>12/03/2026</a:t>
            </a:fld>
            <a:endParaRPr lang="en-NG"/>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NG"/>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71AFB3D2-FE9B-4A7F-A42F-F5FD11A4DF1E}" type="slidenum">
              <a:rPr lang="en-NG" smtClean="0"/>
              <a:t>‹#›</a:t>
            </a:fld>
            <a:endParaRPr lang="en-NG"/>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5710157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6330-E3F1-DC6D-687A-F0B593ED64DD}"/>
              </a:ext>
            </a:extLst>
          </p:cNvPr>
          <p:cNvSpPr>
            <a:spLocks noGrp="1"/>
          </p:cNvSpPr>
          <p:nvPr>
            <p:ph type="title"/>
          </p:nvPr>
        </p:nvSpPr>
        <p:spPr>
          <a:xfrm>
            <a:off x="581192" y="1206680"/>
            <a:ext cx="11029615" cy="2099703"/>
          </a:xfrm>
        </p:spPr>
        <p:txBody>
          <a:bodyPr>
            <a:normAutofit fontScale="90000"/>
          </a:bodyPr>
          <a:lstStyle/>
          <a:p>
            <a:pPr algn="ctr"/>
            <a:r>
              <a:rPr lang="en-US" b="1" dirty="0">
                <a:latin typeface="Aptos Display" panose="020B0004020202020204" pitchFamily="34" charset="0"/>
              </a:rPr>
              <a:t>Incident Response Documentation: </a:t>
            </a:r>
            <a:br>
              <a:rPr lang="en-US" b="1" dirty="0">
                <a:latin typeface="Aptos Display" panose="020B0004020202020204" pitchFamily="34" charset="0"/>
              </a:rPr>
            </a:br>
            <a:br>
              <a:rPr lang="en-US" b="1" dirty="0">
                <a:latin typeface="Aptos Display" panose="020B0004020202020204" pitchFamily="34" charset="0"/>
              </a:rPr>
            </a:br>
            <a:r>
              <a:rPr lang="en-US" b="1" dirty="0">
                <a:latin typeface="Aptos Display" panose="020B0004020202020204" pitchFamily="34" charset="0"/>
              </a:rPr>
              <a:t>Identification of Affected System via Malicious HTTP using </a:t>
            </a:r>
            <a:r>
              <a:rPr lang="en-US" b="1" dirty="0" err="1">
                <a:latin typeface="Aptos Display" panose="020B0004020202020204" pitchFamily="34" charset="0"/>
              </a:rPr>
              <a:t>wireshark</a:t>
            </a:r>
            <a:r>
              <a:rPr lang="en-US" b="1" dirty="0">
                <a:latin typeface="Aptos Display" panose="020B0004020202020204" pitchFamily="34" charset="0"/>
              </a:rPr>
              <a:t> (Packet Analysis) </a:t>
            </a:r>
            <a:endParaRPr lang="en-NG" b="1" dirty="0">
              <a:latin typeface="Aptos Display" panose="020B0004020202020204" pitchFamily="34" charset="0"/>
            </a:endParaRPr>
          </a:p>
        </p:txBody>
      </p:sp>
      <p:sp>
        <p:nvSpPr>
          <p:cNvPr id="5" name="TextBox 4">
            <a:extLst>
              <a:ext uri="{FF2B5EF4-FFF2-40B4-BE49-F238E27FC236}">
                <a16:creationId xmlns:a16="http://schemas.microsoft.com/office/drawing/2014/main" id="{7C937A20-7D06-E6B0-C7B3-FD0D86B555F5}"/>
              </a:ext>
            </a:extLst>
          </p:cNvPr>
          <p:cNvSpPr txBox="1"/>
          <p:nvPr/>
        </p:nvSpPr>
        <p:spPr>
          <a:xfrm>
            <a:off x="673925" y="5281988"/>
            <a:ext cx="6097978" cy="369332"/>
          </a:xfrm>
          <a:prstGeom prst="rect">
            <a:avLst/>
          </a:prstGeom>
          <a:noFill/>
        </p:spPr>
        <p:txBody>
          <a:bodyPr wrap="square">
            <a:spAutoFit/>
          </a:bodyPr>
          <a:lstStyle/>
          <a:p>
            <a:r>
              <a:rPr lang="en-US" b="1" dirty="0">
                <a:solidFill>
                  <a:schemeClr val="bg1"/>
                </a:solidFill>
                <a:latin typeface="Aptos Display" panose="020B0004020202020204" pitchFamily="34" charset="0"/>
              </a:rPr>
              <a:t>BY: AKINKOYE OLUWAFEMI</a:t>
            </a:r>
            <a:endParaRPr lang="en-NG" dirty="0">
              <a:solidFill>
                <a:schemeClr val="bg1"/>
              </a:solidFill>
            </a:endParaRPr>
          </a:p>
        </p:txBody>
      </p:sp>
    </p:spTree>
    <p:extLst>
      <p:ext uri="{BB962C8B-B14F-4D97-AF65-F5344CB8AC3E}">
        <p14:creationId xmlns:p14="http://schemas.microsoft.com/office/powerpoint/2010/main" val="2044862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ABD3D-89F8-4C22-F116-0DF2B73363D4}"/>
              </a:ext>
            </a:extLst>
          </p:cNvPr>
          <p:cNvSpPr>
            <a:spLocks noGrp="1"/>
          </p:cNvSpPr>
          <p:nvPr>
            <p:ph type="title"/>
          </p:nvPr>
        </p:nvSpPr>
        <p:spPr>
          <a:xfrm>
            <a:off x="581192" y="1116281"/>
            <a:ext cx="11029615" cy="1828800"/>
          </a:xfrm>
        </p:spPr>
        <p:txBody>
          <a:bodyPr>
            <a:normAutofit/>
          </a:bodyPr>
          <a:lstStyle/>
          <a:p>
            <a:pPr>
              <a:lnSpc>
                <a:spcPct val="150000"/>
              </a:lnSpc>
            </a:pPr>
            <a:r>
              <a:rPr lang="en-US" b="1" dirty="0">
                <a:latin typeface="Aptos Display" panose="020B0004020202020204" pitchFamily="34" charset="0"/>
              </a:rPr>
              <a:t>Objective:</a:t>
            </a:r>
            <a:br>
              <a:rPr lang="en-US" dirty="0">
                <a:latin typeface="Aptos Display" panose="020B0004020202020204" pitchFamily="34" charset="0"/>
              </a:rPr>
            </a:br>
            <a:r>
              <a:rPr lang="en-US" sz="2000" dirty="0">
                <a:latin typeface="Aptos Display" panose="020B0004020202020204" pitchFamily="34" charset="0"/>
              </a:rPr>
              <a:t>The purpose of this step is to determine which system on the network accessed the potentially malicious / fake URL. </a:t>
            </a:r>
            <a:endParaRPr lang="en-NG" sz="2000" dirty="0">
              <a:latin typeface="Aptos Display" panose="020B0004020202020204" pitchFamily="34" charset="0"/>
            </a:endParaRPr>
          </a:p>
        </p:txBody>
      </p:sp>
      <p:sp>
        <p:nvSpPr>
          <p:cNvPr id="4" name="TextBox 3">
            <a:extLst>
              <a:ext uri="{FF2B5EF4-FFF2-40B4-BE49-F238E27FC236}">
                <a16:creationId xmlns:a16="http://schemas.microsoft.com/office/drawing/2014/main" id="{9186A834-3702-A6AB-4FEE-ACD5E28DE39C}"/>
              </a:ext>
            </a:extLst>
          </p:cNvPr>
          <p:cNvSpPr txBox="1"/>
          <p:nvPr/>
        </p:nvSpPr>
        <p:spPr>
          <a:xfrm>
            <a:off x="581192" y="3157049"/>
            <a:ext cx="6097978" cy="369332"/>
          </a:xfrm>
          <a:prstGeom prst="rect">
            <a:avLst/>
          </a:prstGeom>
          <a:noFill/>
        </p:spPr>
        <p:txBody>
          <a:bodyPr wrap="square">
            <a:spAutoFit/>
          </a:bodyPr>
          <a:lstStyle/>
          <a:p>
            <a:r>
              <a:rPr lang="en-US" b="1" dirty="0">
                <a:latin typeface="Aptos Display" panose="020B0004020202020204" pitchFamily="34" charset="0"/>
              </a:rPr>
              <a:t>Tool Used: Wireshark</a:t>
            </a:r>
            <a:endParaRPr lang="en-NG" dirty="0"/>
          </a:p>
        </p:txBody>
      </p:sp>
    </p:spTree>
    <p:extLst>
      <p:ext uri="{BB962C8B-B14F-4D97-AF65-F5344CB8AC3E}">
        <p14:creationId xmlns:p14="http://schemas.microsoft.com/office/powerpoint/2010/main" val="3640792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FC8C2-694B-965E-C513-CE867D8767D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227E27-2CBB-3996-04AB-E9DB2EF3B652}"/>
              </a:ext>
            </a:extLst>
          </p:cNvPr>
          <p:cNvSpPr txBox="1"/>
          <p:nvPr/>
        </p:nvSpPr>
        <p:spPr>
          <a:xfrm>
            <a:off x="424542" y="599106"/>
            <a:ext cx="11533910" cy="2031325"/>
          </a:xfrm>
          <a:prstGeom prst="rect">
            <a:avLst/>
          </a:prstGeom>
          <a:noFill/>
        </p:spPr>
        <p:txBody>
          <a:bodyPr wrap="square">
            <a:spAutoFit/>
          </a:bodyPr>
          <a:lstStyle/>
          <a:p>
            <a:r>
              <a:rPr lang="en-US" b="1" dirty="0">
                <a:latin typeface="Aptos Display" panose="020B0004020202020204" pitchFamily="34" charset="0"/>
              </a:rPr>
              <a:t>FILTER APPLIED: </a:t>
            </a:r>
            <a:r>
              <a:rPr lang="en-US" b="1" dirty="0" err="1">
                <a:latin typeface="Aptos Display" panose="020B0004020202020204" pitchFamily="34" charset="0"/>
              </a:rPr>
              <a:t>http.request</a:t>
            </a:r>
            <a:endParaRPr lang="en-US" dirty="0">
              <a:latin typeface="Aptos Display" panose="020B0004020202020204" pitchFamily="34" charset="0"/>
            </a:endParaRPr>
          </a:p>
          <a:p>
            <a:pPr algn="just"/>
            <a:r>
              <a:rPr lang="en-US" dirty="0">
                <a:latin typeface="Aptos Display" panose="020B0004020202020204" pitchFamily="34" charset="0"/>
              </a:rPr>
              <a:t>The system that accessed the malicious URL is identified by the source IP address (10.2.28.88). This device sent multiple HTTP POST requests to the external server at destination IP (45.131.214.85), specifically to the URL http://45.131.214.85/fakeurl.htm. Since the source IP initiated contact with the malicious server, 10.2.28.88 is considered the victim system.  The repeated POST requests indicate ongoing communication. Port: 443 (HTTP)</a:t>
            </a:r>
          </a:p>
          <a:p>
            <a:pPr algn="just"/>
            <a:br>
              <a:rPr lang="en-US" dirty="0">
                <a:latin typeface="Aptos Display" panose="020B0004020202020204" pitchFamily="34" charset="0"/>
              </a:rPr>
            </a:br>
            <a:endParaRPr lang="en-NG" dirty="0">
              <a:latin typeface="Aptos Display" panose="020B0004020202020204" pitchFamily="34" charset="0"/>
            </a:endParaRPr>
          </a:p>
        </p:txBody>
      </p:sp>
      <p:pic>
        <p:nvPicPr>
          <p:cNvPr id="7" name="Picture 6">
            <a:extLst>
              <a:ext uri="{FF2B5EF4-FFF2-40B4-BE49-F238E27FC236}">
                <a16:creationId xmlns:a16="http://schemas.microsoft.com/office/drawing/2014/main" id="{76027D08-4FDE-EDE3-5751-B155C68B6853}"/>
              </a:ext>
            </a:extLst>
          </p:cNvPr>
          <p:cNvPicPr>
            <a:picLocks noChangeAspect="1"/>
          </p:cNvPicPr>
          <p:nvPr/>
        </p:nvPicPr>
        <p:blipFill>
          <a:blip r:embed="rId2"/>
          <a:stretch>
            <a:fillRect/>
          </a:stretch>
        </p:blipFill>
        <p:spPr>
          <a:xfrm>
            <a:off x="2964663" y="2042075"/>
            <a:ext cx="9174488" cy="4165429"/>
          </a:xfrm>
          <a:prstGeom prst="rect">
            <a:avLst/>
          </a:prstGeom>
        </p:spPr>
      </p:pic>
      <p:sp>
        <p:nvSpPr>
          <p:cNvPr id="8" name="Callout: Bent Line 7">
            <a:extLst>
              <a:ext uri="{FF2B5EF4-FFF2-40B4-BE49-F238E27FC236}">
                <a16:creationId xmlns:a16="http://schemas.microsoft.com/office/drawing/2014/main" id="{DA436F10-F27D-A723-3603-E074C4CAA38B}"/>
              </a:ext>
            </a:extLst>
          </p:cNvPr>
          <p:cNvSpPr/>
          <p:nvPr/>
        </p:nvSpPr>
        <p:spPr>
          <a:xfrm>
            <a:off x="570017" y="5463798"/>
            <a:ext cx="1959428" cy="795096"/>
          </a:xfrm>
          <a:prstGeom prst="borderCallout2">
            <a:avLst>
              <a:gd name="adj1" fmla="val 35460"/>
              <a:gd name="adj2" fmla="val 100556"/>
              <a:gd name="adj3" fmla="val -31380"/>
              <a:gd name="adj4" fmla="val 111666"/>
              <a:gd name="adj5" fmla="val -76585"/>
              <a:gd name="adj6" fmla="val 20591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903163"/>
                </a:solidFill>
              </a:rPr>
              <a:t>MAC ADDRESS OF THE VICTIM:</a:t>
            </a:r>
          </a:p>
          <a:p>
            <a:pPr algn="ctr"/>
            <a:r>
              <a:rPr lang="en-US" sz="1200" b="1" dirty="0">
                <a:solidFill>
                  <a:srgbClr val="903163"/>
                </a:solidFill>
              </a:rPr>
              <a:t>00:19:d1:b2:4d:ad</a:t>
            </a:r>
            <a:endParaRPr lang="en-NG" sz="1200" b="1" dirty="0">
              <a:solidFill>
                <a:srgbClr val="903163"/>
              </a:solidFill>
            </a:endParaRPr>
          </a:p>
        </p:txBody>
      </p:sp>
    </p:spTree>
    <p:extLst>
      <p:ext uri="{BB962C8B-B14F-4D97-AF65-F5344CB8AC3E}">
        <p14:creationId xmlns:p14="http://schemas.microsoft.com/office/powerpoint/2010/main" val="3378037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9EE04-F451-9F8B-4D4D-48C6CAB2CEA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3857990-C817-DE10-D916-4AE51B27DE4F}"/>
              </a:ext>
            </a:extLst>
          </p:cNvPr>
          <p:cNvPicPr>
            <a:picLocks noChangeAspect="1"/>
          </p:cNvPicPr>
          <p:nvPr/>
        </p:nvPicPr>
        <p:blipFill>
          <a:blip r:embed="rId2"/>
          <a:stretch>
            <a:fillRect/>
          </a:stretch>
        </p:blipFill>
        <p:spPr>
          <a:xfrm>
            <a:off x="3372593" y="2020096"/>
            <a:ext cx="7160366" cy="4834935"/>
          </a:xfrm>
          <a:prstGeom prst="rect">
            <a:avLst/>
          </a:prstGeom>
        </p:spPr>
      </p:pic>
      <p:sp>
        <p:nvSpPr>
          <p:cNvPr id="4" name="TextBox 3">
            <a:extLst>
              <a:ext uri="{FF2B5EF4-FFF2-40B4-BE49-F238E27FC236}">
                <a16:creationId xmlns:a16="http://schemas.microsoft.com/office/drawing/2014/main" id="{A8472421-AA67-2EB8-A850-CB14D0D8BB0B}"/>
              </a:ext>
            </a:extLst>
          </p:cNvPr>
          <p:cNvSpPr txBox="1"/>
          <p:nvPr/>
        </p:nvSpPr>
        <p:spPr>
          <a:xfrm>
            <a:off x="424542" y="599106"/>
            <a:ext cx="11533910" cy="1200329"/>
          </a:xfrm>
          <a:prstGeom prst="rect">
            <a:avLst/>
          </a:prstGeom>
          <a:noFill/>
        </p:spPr>
        <p:txBody>
          <a:bodyPr wrap="square">
            <a:spAutoFit/>
          </a:bodyPr>
          <a:lstStyle/>
          <a:p>
            <a:r>
              <a:rPr lang="en-US" b="1" dirty="0">
                <a:latin typeface="Aptos Display" panose="020B0004020202020204" pitchFamily="34" charset="0"/>
              </a:rPr>
              <a:t>FILTER APPLIED: </a:t>
            </a:r>
            <a:r>
              <a:rPr lang="en-US" b="1" dirty="0" err="1">
                <a:latin typeface="Aptos Display" panose="020B0004020202020204" pitchFamily="34" charset="0"/>
              </a:rPr>
              <a:t>nbns</a:t>
            </a:r>
            <a:br>
              <a:rPr lang="en-US" dirty="0">
                <a:latin typeface="Aptos Display" panose="020B0004020202020204" pitchFamily="34" charset="0"/>
              </a:rPr>
            </a:br>
            <a:r>
              <a:rPr lang="en-US" dirty="0">
                <a:latin typeface="Aptos Display" panose="020B0004020202020204" pitchFamily="34" charset="0"/>
              </a:rPr>
              <a:t>The device with IP address (10.2.28.88) was queried using the NetBIOS Name Service (NBNS) on UDP port 137 to identify its network name. The system responded with the registered NetBIOS name “EASYAS123” linked with the infected IP address (10.2.28.88), confirming the identity of the device that accessed the malicious URL. </a:t>
            </a:r>
            <a:endParaRPr lang="en-NG" dirty="0">
              <a:latin typeface="Aptos Display" panose="020B0004020202020204" pitchFamily="34" charset="0"/>
            </a:endParaRPr>
          </a:p>
        </p:txBody>
      </p:sp>
      <p:sp>
        <p:nvSpPr>
          <p:cNvPr id="9" name="Callout: Bent Line 8">
            <a:extLst>
              <a:ext uri="{FF2B5EF4-FFF2-40B4-BE49-F238E27FC236}">
                <a16:creationId xmlns:a16="http://schemas.microsoft.com/office/drawing/2014/main" id="{C89B7E76-8905-091E-E82B-DF1E46FFF573}"/>
              </a:ext>
            </a:extLst>
          </p:cNvPr>
          <p:cNvSpPr/>
          <p:nvPr/>
        </p:nvSpPr>
        <p:spPr>
          <a:xfrm>
            <a:off x="1304305" y="5616199"/>
            <a:ext cx="1094511" cy="285838"/>
          </a:xfrm>
          <a:prstGeom prst="borderCallout2">
            <a:avLst>
              <a:gd name="adj1" fmla="val 77006"/>
              <a:gd name="adj2" fmla="val 110321"/>
              <a:gd name="adj3" fmla="val 79712"/>
              <a:gd name="adj4" fmla="val 144656"/>
              <a:gd name="adj5" fmla="val 333778"/>
              <a:gd name="adj6" fmla="val 2488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903163"/>
                </a:solidFill>
              </a:rPr>
              <a:t>PORT: 137</a:t>
            </a:r>
            <a:endParaRPr lang="en-NG" sz="1200" b="1" dirty="0">
              <a:solidFill>
                <a:srgbClr val="903163"/>
              </a:solidFill>
            </a:endParaRPr>
          </a:p>
        </p:txBody>
      </p:sp>
      <p:sp>
        <p:nvSpPr>
          <p:cNvPr id="8" name="Callout: Bent Line 7">
            <a:extLst>
              <a:ext uri="{FF2B5EF4-FFF2-40B4-BE49-F238E27FC236}">
                <a16:creationId xmlns:a16="http://schemas.microsoft.com/office/drawing/2014/main" id="{C253434F-771B-FA9E-41A7-D5DD304B3621}"/>
              </a:ext>
            </a:extLst>
          </p:cNvPr>
          <p:cNvSpPr/>
          <p:nvPr/>
        </p:nvSpPr>
        <p:spPr>
          <a:xfrm>
            <a:off x="249383" y="5463798"/>
            <a:ext cx="2280062" cy="568867"/>
          </a:xfrm>
          <a:prstGeom prst="borderCallout2">
            <a:avLst>
              <a:gd name="adj1" fmla="val 35460"/>
              <a:gd name="adj2" fmla="val 100556"/>
              <a:gd name="adj3" fmla="val 29857"/>
              <a:gd name="adj4" fmla="val 126211"/>
              <a:gd name="adj5" fmla="val -89906"/>
              <a:gd name="adj6" fmla="val 17333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903163"/>
                </a:solidFill>
              </a:rPr>
              <a:t>PORT: 137</a:t>
            </a:r>
          </a:p>
          <a:p>
            <a:pPr algn="ctr"/>
            <a:r>
              <a:rPr lang="en-US" sz="1200" b="1" dirty="0">
                <a:solidFill>
                  <a:srgbClr val="903163"/>
                </a:solidFill>
              </a:rPr>
              <a:t>DEVICE NAME: EASYAS123</a:t>
            </a:r>
            <a:endParaRPr lang="en-NG" sz="1200" b="1" dirty="0">
              <a:solidFill>
                <a:srgbClr val="903163"/>
              </a:solidFill>
            </a:endParaRPr>
          </a:p>
        </p:txBody>
      </p:sp>
    </p:spTree>
    <p:extLst>
      <p:ext uri="{BB962C8B-B14F-4D97-AF65-F5344CB8AC3E}">
        <p14:creationId xmlns:p14="http://schemas.microsoft.com/office/powerpoint/2010/main" val="2333665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38ED9-CCE6-D36E-76B2-6EEF387D05F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F05FC3-483E-BCCD-A149-AB3B43FA6588}"/>
              </a:ext>
            </a:extLst>
          </p:cNvPr>
          <p:cNvPicPr>
            <a:picLocks noChangeAspect="1"/>
          </p:cNvPicPr>
          <p:nvPr/>
        </p:nvPicPr>
        <p:blipFill>
          <a:blip r:embed="rId2"/>
          <a:stretch>
            <a:fillRect/>
          </a:stretch>
        </p:blipFill>
        <p:spPr>
          <a:xfrm>
            <a:off x="3260683" y="1799434"/>
            <a:ext cx="8801509" cy="5058565"/>
          </a:xfrm>
          <a:prstGeom prst="rect">
            <a:avLst/>
          </a:prstGeom>
        </p:spPr>
      </p:pic>
      <p:sp>
        <p:nvSpPr>
          <p:cNvPr id="4" name="TextBox 3">
            <a:extLst>
              <a:ext uri="{FF2B5EF4-FFF2-40B4-BE49-F238E27FC236}">
                <a16:creationId xmlns:a16="http://schemas.microsoft.com/office/drawing/2014/main" id="{B42FF0DC-09F7-7B83-87EF-D0C1FB708F7D}"/>
              </a:ext>
            </a:extLst>
          </p:cNvPr>
          <p:cNvSpPr txBox="1"/>
          <p:nvPr/>
        </p:nvSpPr>
        <p:spPr>
          <a:xfrm>
            <a:off x="249383" y="599106"/>
            <a:ext cx="11709069" cy="1200329"/>
          </a:xfrm>
          <a:prstGeom prst="rect">
            <a:avLst/>
          </a:prstGeom>
          <a:noFill/>
        </p:spPr>
        <p:txBody>
          <a:bodyPr wrap="square">
            <a:spAutoFit/>
          </a:bodyPr>
          <a:lstStyle/>
          <a:p>
            <a:r>
              <a:rPr lang="en-US" b="1" dirty="0">
                <a:latin typeface="Aptos Display" panose="020B0004020202020204" pitchFamily="34" charset="0"/>
              </a:rPr>
              <a:t>FILTER APPLIED: </a:t>
            </a:r>
            <a:r>
              <a:rPr lang="en-US" b="1" dirty="0" err="1">
                <a:latin typeface="Aptos Display" panose="020B0004020202020204" pitchFamily="34" charset="0"/>
              </a:rPr>
              <a:t>kerberos.CNameString</a:t>
            </a:r>
            <a:br>
              <a:rPr lang="en-US" dirty="0">
                <a:latin typeface="Aptos Display" panose="020B0004020202020204" pitchFamily="34" charset="0"/>
              </a:rPr>
            </a:br>
            <a:r>
              <a:rPr lang="en-US" dirty="0">
                <a:latin typeface="Aptos Display" panose="020B0004020202020204" pitchFamily="34" charset="0"/>
              </a:rPr>
              <a:t>The system with IP address (10.2.28.88) was analyzed using Kerberos authentication packets, specifically the </a:t>
            </a:r>
            <a:r>
              <a:rPr lang="en-US" b="1" dirty="0" err="1">
                <a:latin typeface="Aptos Display" panose="020B0004020202020204" pitchFamily="34" charset="0"/>
              </a:rPr>
              <a:t>CNameString</a:t>
            </a:r>
            <a:r>
              <a:rPr lang="en-US" dirty="0">
                <a:latin typeface="Aptos Display" panose="020B0004020202020204" pitchFamily="34" charset="0"/>
              </a:rPr>
              <a:t> field, to identify the user account associated with the device. The captured packets revealed that the username “Easyas123” is linked to the victim system. Port: 88 </a:t>
            </a:r>
            <a:r>
              <a:rPr lang="en-US">
                <a:latin typeface="Aptos Display" panose="020B0004020202020204" pitchFamily="34" charset="0"/>
              </a:rPr>
              <a:t>(Kerberos)</a:t>
            </a:r>
            <a:endParaRPr lang="en-NG" dirty="0">
              <a:latin typeface="Aptos Display" panose="020B0004020202020204" pitchFamily="34" charset="0"/>
            </a:endParaRPr>
          </a:p>
        </p:txBody>
      </p:sp>
      <p:sp>
        <p:nvSpPr>
          <p:cNvPr id="9" name="Callout: Bent Line 8">
            <a:extLst>
              <a:ext uri="{FF2B5EF4-FFF2-40B4-BE49-F238E27FC236}">
                <a16:creationId xmlns:a16="http://schemas.microsoft.com/office/drawing/2014/main" id="{9748834E-5874-BB7C-F91C-E995026027FA}"/>
              </a:ext>
            </a:extLst>
          </p:cNvPr>
          <p:cNvSpPr/>
          <p:nvPr/>
        </p:nvSpPr>
        <p:spPr>
          <a:xfrm>
            <a:off x="1304305" y="5616199"/>
            <a:ext cx="1094511" cy="285838"/>
          </a:xfrm>
          <a:prstGeom prst="borderCallout2">
            <a:avLst>
              <a:gd name="adj1" fmla="val 77006"/>
              <a:gd name="adj2" fmla="val 110321"/>
              <a:gd name="adj3" fmla="val 79712"/>
              <a:gd name="adj4" fmla="val 144656"/>
              <a:gd name="adj5" fmla="val 124954"/>
              <a:gd name="adj6" fmla="val 2186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903163"/>
                </a:solidFill>
              </a:rPr>
              <a:t>PORT: 137</a:t>
            </a:r>
            <a:endParaRPr lang="en-NG" sz="1200" b="1" dirty="0">
              <a:solidFill>
                <a:srgbClr val="903163"/>
              </a:solidFill>
            </a:endParaRPr>
          </a:p>
        </p:txBody>
      </p:sp>
      <p:sp>
        <p:nvSpPr>
          <p:cNvPr id="8" name="Callout: Bent Line 7">
            <a:extLst>
              <a:ext uri="{FF2B5EF4-FFF2-40B4-BE49-F238E27FC236}">
                <a16:creationId xmlns:a16="http://schemas.microsoft.com/office/drawing/2014/main" id="{EFBA1E2D-0CED-0CE1-7309-F3F348B63B4F}"/>
              </a:ext>
            </a:extLst>
          </p:cNvPr>
          <p:cNvSpPr/>
          <p:nvPr/>
        </p:nvSpPr>
        <p:spPr>
          <a:xfrm>
            <a:off x="249383" y="5463798"/>
            <a:ext cx="2280062" cy="568867"/>
          </a:xfrm>
          <a:prstGeom prst="borderCallout2">
            <a:avLst>
              <a:gd name="adj1" fmla="val 35460"/>
              <a:gd name="adj2" fmla="val 100556"/>
              <a:gd name="adj3" fmla="val 29857"/>
              <a:gd name="adj4" fmla="val 126211"/>
              <a:gd name="adj5" fmla="val 68602"/>
              <a:gd name="adj6" fmla="val 16164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903163"/>
                </a:solidFill>
              </a:rPr>
              <a:t>USERNAME: </a:t>
            </a:r>
            <a:r>
              <a:rPr lang="en-US" sz="1200" b="1" dirty="0" err="1">
                <a:solidFill>
                  <a:srgbClr val="903163"/>
                </a:solidFill>
              </a:rPr>
              <a:t>brolf</a:t>
            </a:r>
            <a:endParaRPr lang="en-US" sz="1200" b="1" dirty="0">
              <a:solidFill>
                <a:srgbClr val="903163"/>
              </a:solidFill>
            </a:endParaRPr>
          </a:p>
          <a:p>
            <a:pPr algn="ctr"/>
            <a:r>
              <a:rPr lang="en-US" sz="1200" b="1" dirty="0">
                <a:solidFill>
                  <a:srgbClr val="903163"/>
                </a:solidFill>
              </a:rPr>
              <a:t>DEVICE NAME: EASYAS123</a:t>
            </a:r>
            <a:endParaRPr lang="en-NG" sz="1200" b="1" dirty="0">
              <a:solidFill>
                <a:srgbClr val="903163"/>
              </a:solidFill>
            </a:endParaRPr>
          </a:p>
        </p:txBody>
      </p:sp>
    </p:spTree>
    <p:extLst>
      <p:ext uri="{BB962C8B-B14F-4D97-AF65-F5344CB8AC3E}">
        <p14:creationId xmlns:p14="http://schemas.microsoft.com/office/powerpoint/2010/main" val="4078759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98EF-4B05-CB9E-F53A-ED71A76231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DD3A11-87A6-911B-79AB-760DB6245BB5}"/>
              </a:ext>
            </a:extLst>
          </p:cNvPr>
          <p:cNvPicPr>
            <a:picLocks noChangeAspect="1"/>
          </p:cNvPicPr>
          <p:nvPr/>
        </p:nvPicPr>
        <p:blipFill>
          <a:blip r:embed="rId2"/>
          <a:stretch>
            <a:fillRect/>
          </a:stretch>
        </p:blipFill>
        <p:spPr>
          <a:xfrm>
            <a:off x="3103417" y="2076434"/>
            <a:ext cx="8839200" cy="4583064"/>
          </a:xfrm>
          <a:prstGeom prst="rect">
            <a:avLst/>
          </a:prstGeom>
        </p:spPr>
      </p:pic>
      <p:sp>
        <p:nvSpPr>
          <p:cNvPr id="4" name="TextBox 3">
            <a:extLst>
              <a:ext uri="{FF2B5EF4-FFF2-40B4-BE49-F238E27FC236}">
                <a16:creationId xmlns:a16="http://schemas.microsoft.com/office/drawing/2014/main" id="{991EEDA8-5B62-8125-8076-5235E0549E3C}"/>
              </a:ext>
            </a:extLst>
          </p:cNvPr>
          <p:cNvSpPr txBox="1"/>
          <p:nvPr/>
        </p:nvSpPr>
        <p:spPr>
          <a:xfrm>
            <a:off x="424542" y="599106"/>
            <a:ext cx="11533910" cy="1200329"/>
          </a:xfrm>
          <a:prstGeom prst="rect">
            <a:avLst/>
          </a:prstGeom>
          <a:noFill/>
        </p:spPr>
        <p:txBody>
          <a:bodyPr wrap="square">
            <a:spAutoFit/>
          </a:bodyPr>
          <a:lstStyle/>
          <a:p>
            <a:r>
              <a:rPr lang="en-US" b="1" dirty="0"/>
              <a:t>Edit → Find Packet (“</a:t>
            </a:r>
            <a:r>
              <a:rPr lang="en-US" b="1" dirty="0" err="1"/>
              <a:t>brolf</a:t>
            </a:r>
            <a:r>
              <a:rPr lang="en-US" b="1" dirty="0"/>
              <a:t>”, “</a:t>
            </a:r>
            <a:r>
              <a:rPr lang="en-US" b="1" dirty="0" err="1"/>
              <a:t>rolf</a:t>
            </a:r>
            <a:r>
              <a:rPr lang="en-US" b="1" dirty="0"/>
              <a:t>”, “Rolf”)</a:t>
            </a:r>
            <a:br>
              <a:rPr lang="en-US" dirty="0"/>
            </a:br>
            <a:r>
              <a:rPr lang="en-US" dirty="0"/>
              <a:t>After identifying the username linked to the device (10.2.28.88) using Kerberos </a:t>
            </a:r>
            <a:r>
              <a:rPr lang="en-US" b="1" dirty="0" err="1"/>
              <a:t>CNameString</a:t>
            </a:r>
            <a:r>
              <a:rPr lang="en-US" dirty="0"/>
              <a:t>, the </a:t>
            </a:r>
            <a:r>
              <a:rPr lang="en-US" b="1" dirty="0"/>
              <a:t>Find Packet</a:t>
            </a:r>
            <a:r>
              <a:rPr lang="en-US" dirty="0"/>
              <a:t> feature in Wireshark was used to filter all packets associated with this username. Analysis revealed that the activity originated from the user </a:t>
            </a:r>
            <a:r>
              <a:rPr lang="en-US" b="1" dirty="0"/>
              <a:t>Becka Rolf</a:t>
            </a:r>
            <a:r>
              <a:rPr lang="en-US" dirty="0"/>
              <a:t>, confirming the individual associated with the victim system. </a:t>
            </a:r>
            <a:endParaRPr lang="en-NG" dirty="0"/>
          </a:p>
        </p:txBody>
      </p:sp>
      <p:sp>
        <p:nvSpPr>
          <p:cNvPr id="8" name="Callout: Bent Line 7">
            <a:extLst>
              <a:ext uri="{FF2B5EF4-FFF2-40B4-BE49-F238E27FC236}">
                <a16:creationId xmlns:a16="http://schemas.microsoft.com/office/drawing/2014/main" id="{4C7F0C8E-9DD2-6E6F-BC9B-A635C3D84210}"/>
              </a:ext>
            </a:extLst>
          </p:cNvPr>
          <p:cNvSpPr/>
          <p:nvPr/>
        </p:nvSpPr>
        <p:spPr>
          <a:xfrm>
            <a:off x="249383" y="5463798"/>
            <a:ext cx="2280062" cy="568867"/>
          </a:xfrm>
          <a:prstGeom prst="borderCallout2">
            <a:avLst>
              <a:gd name="adj1" fmla="val 35460"/>
              <a:gd name="adj2" fmla="val 100556"/>
              <a:gd name="adj3" fmla="val 29857"/>
              <a:gd name="adj4" fmla="val 126211"/>
              <a:gd name="adj5" fmla="val 140935"/>
              <a:gd name="adj6" fmla="val 1660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903163"/>
                </a:solidFill>
              </a:rPr>
              <a:t>FULL NAME: BECKA ROLF</a:t>
            </a:r>
            <a:endParaRPr lang="en-NG" sz="1200" b="1" dirty="0">
              <a:solidFill>
                <a:srgbClr val="903163"/>
              </a:solidFill>
            </a:endParaRPr>
          </a:p>
        </p:txBody>
      </p:sp>
    </p:spTree>
    <p:extLst>
      <p:ext uri="{BB962C8B-B14F-4D97-AF65-F5344CB8AC3E}">
        <p14:creationId xmlns:p14="http://schemas.microsoft.com/office/powerpoint/2010/main" val="4141454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7200-B070-7E27-110E-C25FB78FC5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74E21D-304E-6B10-D7A0-EC3F2B6FF205}"/>
              </a:ext>
            </a:extLst>
          </p:cNvPr>
          <p:cNvSpPr txBox="1"/>
          <p:nvPr/>
        </p:nvSpPr>
        <p:spPr>
          <a:xfrm>
            <a:off x="317500" y="1983406"/>
            <a:ext cx="11666352" cy="2952027"/>
          </a:xfrm>
          <a:prstGeom prst="rect">
            <a:avLst/>
          </a:prstGeom>
          <a:noFill/>
        </p:spPr>
        <p:txBody>
          <a:bodyPr wrap="square">
            <a:spAutoFit/>
          </a:bodyPr>
          <a:lstStyle/>
          <a:p>
            <a:pPr algn="just">
              <a:lnSpc>
                <a:spcPct val="150000"/>
              </a:lnSpc>
            </a:pPr>
            <a:r>
              <a:rPr lang="en-US" dirty="0">
                <a:latin typeface="Aptos Display" panose="020B0004020202020204" pitchFamily="34" charset="0"/>
              </a:rPr>
              <a:t>The investigation successfully traced the malicious HTTP activity originating from the source IP address 10.2.28.88. Through a series of analyses, starting with HTTP POST request filtering which detected the Internal IP(10.2.28.88 ) that connected to a malicious site (45.131.214.85), device identification via NBNS (UDP 137) </a:t>
            </a:r>
            <a:r>
              <a:rPr lang="en-US" dirty="0" err="1">
                <a:latin typeface="Aptos Display" panose="020B0004020202020204" pitchFamily="34" charset="0"/>
              </a:rPr>
              <a:t>reveales</a:t>
            </a:r>
            <a:r>
              <a:rPr lang="en-US" dirty="0">
                <a:latin typeface="Aptos Display" panose="020B0004020202020204" pitchFamily="34" charset="0"/>
              </a:rPr>
              <a:t> the device name as “EASYAS123” , user association via Kerberos </a:t>
            </a:r>
            <a:r>
              <a:rPr lang="en-US" dirty="0" err="1">
                <a:latin typeface="Aptos Display" panose="020B0004020202020204" pitchFamily="34" charset="0"/>
              </a:rPr>
              <a:t>CNameString</a:t>
            </a:r>
            <a:r>
              <a:rPr lang="en-US" dirty="0">
                <a:latin typeface="Aptos Display" panose="020B0004020202020204" pitchFamily="34" charset="0"/>
              </a:rPr>
              <a:t> which revealed the Username as (</a:t>
            </a:r>
            <a:r>
              <a:rPr lang="en-US" dirty="0" err="1">
                <a:latin typeface="Aptos Display" panose="020B0004020202020204" pitchFamily="34" charset="0"/>
              </a:rPr>
              <a:t>brolf</a:t>
            </a:r>
            <a:r>
              <a:rPr lang="en-US" dirty="0">
                <a:latin typeface="Aptos Display" panose="020B0004020202020204" pitchFamily="34" charset="0"/>
              </a:rPr>
              <a:t>), and packet filtering, the victim system and the responsible user, Becka Rolf, were clearly identified. This stepwise approach demonstrates the importance of correlating network traffic, device information, and user credentials in incident response.</a:t>
            </a:r>
          </a:p>
          <a:p>
            <a:pPr algn="just">
              <a:lnSpc>
                <a:spcPct val="150000"/>
              </a:lnSpc>
            </a:pPr>
            <a:endParaRPr lang="en-NG" dirty="0">
              <a:latin typeface="Aptos Display" panose="020B0004020202020204" pitchFamily="34" charset="0"/>
            </a:endParaRPr>
          </a:p>
        </p:txBody>
      </p:sp>
      <p:sp>
        <p:nvSpPr>
          <p:cNvPr id="5" name="Title 4">
            <a:extLst>
              <a:ext uri="{FF2B5EF4-FFF2-40B4-BE49-F238E27FC236}">
                <a16:creationId xmlns:a16="http://schemas.microsoft.com/office/drawing/2014/main" id="{B43E4CDD-E75D-B19F-3D23-7D3DCAAEB9B1}"/>
              </a:ext>
            </a:extLst>
          </p:cNvPr>
          <p:cNvSpPr>
            <a:spLocks noGrp="1"/>
          </p:cNvSpPr>
          <p:nvPr>
            <p:ph type="title"/>
          </p:nvPr>
        </p:nvSpPr>
        <p:spPr>
          <a:xfrm>
            <a:off x="575894" y="965200"/>
            <a:ext cx="11029616" cy="752790"/>
          </a:xfrm>
        </p:spPr>
        <p:txBody>
          <a:bodyPr/>
          <a:lstStyle/>
          <a:p>
            <a:r>
              <a:rPr lang="en-US" b="1" dirty="0"/>
              <a:t>CONCLUSION</a:t>
            </a:r>
            <a:endParaRPr lang="en-NG" dirty="0"/>
          </a:p>
        </p:txBody>
      </p:sp>
    </p:spTree>
    <p:extLst>
      <p:ext uri="{BB962C8B-B14F-4D97-AF65-F5344CB8AC3E}">
        <p14:creationId xmlns:p14="http://schemas.microsoft.com/office/powerpoint/2010/main" val="192965407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47</TotalTime>
  <Words>482</Words>
  <Application>Microsoft Office PowerPoint</Application>
  <PresentationFormat>Widescreen</PresentationFormat>
  <Paragraphs>21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 Display</vt:lpstr>
      <vt:lpstr>Gill Sans MT</vt:lpstr>
      <vt:lpstr>Wingdings 2</vt:lpstr>
      <vt:lpstr>Dividend</vt:lpstr>
      <vt:lpstr>Incident Response Documentation:   Identification of Affected System via Malicious HTTP using wireshark (Packet Analysis) </vt:lpstr>
      <vt:lpstr>Objective: The purpose of this step is to determine which system on the network accessed the potentially malicious / fake URL. </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FEMI</dc:creator>
  <cp:lastModifiedBy>FEMI</cp:lastModifiedBy>
  <cp:revision>5</cp:revision>
  <dcterms:created xsi:type="dcterms:W3CDTF">2026-03-12T00:29:59Z</dcterms:created>
  <dcterms:modified xsi:type="dcterms:W3CDTF">2026-03-12T01:21:15Z</dcterms:modified>
</cp:coreProperties>
</file>